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d8c8eedf2540b0" /><Relationship Type="http://schemas.openxmlformats.org/officeDocument/2006/relationships/extended-properties" Target="/docProps/app.xml" Id="R36ec7c9bedde481e" /><Relationship Type="http://schemas.openxmlformats.org/officeDocument/2006/relationships/officeDocument" Target="/ppt/presentation.xml" Id="R75d8a6883a3a44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0b480c7f644187"/>
  </p:sldMasterIdLst>
  <p:notesMasterIdLst>
    <p:notesMasterId xmlns:r="http://schemas.openxmlformats.org/officeDocument/2006/relationships" r:id="R20acd8b2651f4a96"/>
  </p:notesMasterIdLst>
  <p:sldIdLst>
    <p:sldId xmlns:r="http://schemas.openxmlformats.org/officeDocument/2006/relationships" id="256" r:id="R64275b78c936476c"/>
    <p:sldId xmlns:r="http://schemas.openxmlformats.org/officeDocument/2006/relationships" id="257" r:id="Rf87d8e4538604ff3"/>
    <p:sldId xmlns:r="http://schemas.openxmlformats.org/officeDocument/2006/relationships" id="258" r:id="Rd2c1e75865eb4d20"/>
    <p:sldId xmlns:r="http://schemas.openxmlformats.org/officeDocument/2006/relationships" id="259" r:id="Rb8d2d44ef8a64b35"/>
    <p:sldId xmlns:r="http://schemas.openxmlformats.org/officeDocument/2006/relationships" id="260" r:id="R3dae6b6e562b46a1"/>
    <p:sldId xmlns:r="http://schemas.openxmlformats.org/officeDocument/2006/relationships" id="261" r:id="R455d9942670449ff"/>
    <p:sldId xmlns:r="http://schemas.openxmlformats.org/officeDocument/2006/relationships" id="262" r:id="R095b67539f834674"/>
    <p:sldId xmlns:r="http://schemas.openxmlformats.org/officeDocument/2006/relationships" id="263" r:id="R4d4e62a3c1ce44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3ea5d1c05b4e8e" /><Relationship Type="http://schemas.openxmlformats.org/officeDocument/2006/relationships/slideMaster" Target="/ppt/slideMasters/slideMaster1.xml" Id="R7c0b480c7f644187" /><Relationship Type="http://schemas.openxmlformats.org/officeDocument/2006/relationships/notesMaster" Target="/ppt/notesMasters/notesMaster1.xml" Id="R20acd8b2651f4a96" /><Relationship Type="http://schemas.openxmlformats.org/officeDocument/2006/relationships/presProps" Target="/ppt/presProps.xml" Id="R4bee4df93f2f41f3" /><Relationship Type="http://schemas.openxmlformats.org/officeDocument/2006/relationships/tableStyles" Target="/ppt/tableStyles.xml" Id="Rb6a2880e334c41b9" /><Relationship Type="http://schemas.openxmlformats.org/officeDocument/2006/relationships/slide" Target="/ppt/slides/slide1.xml" Id="R64275b78c936476c" /><Relationship Type="http://schemas.openxmlformats.org/officeDocument/2006/relationships/slide" Target="/ppt/slides/slide2.xml" Id="Rf87d8e4538604ff3" /><Relationship Type="http://schemas.openxmlformats.org/officeDocument/2006/relationships/slide" Target="/ppt/slides/slide3.xml" Id="Rd2c1e75865eb4d20" /><Relationship Type="http://schemas.openxmlformats.org/officeDocument/2006/relationships/slide" Target="/ppt/slides/slide4.xml" Id="Rb8d2d44ef8a64b35" /><Relationship Type="http://schemas.openxmlformats.org/officeDocument/2006/relationships/slide" Target="/ppt/slides/slide5.xml" Id="R3dae6b6e562b46a1" /><Relationship Type="http://schemas.openxmlformats.org/officeDocument/2006/relationships/slide" Target="/ppt/slides/slide6.xml" Id="R455d9942670449ff" /><Relationship Type="http://schemas.openxmlformats.org/officeDocument/2006/relationships/slide" Target="/ppt/slides/slide7.xml" Id="R095b67539f834674" /><Relationship Type="http://schemas.openxmlformats.org/officeDocument/2006/relationships/slide" Target="/ppt/slides/slide8.xml" Id="R4d4e62a3c1ce44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2ac3d78d4b43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4e4c5566ac4999" /><Relationship Type="http://schemas.openxmlformats.org/officeDocument/2006/relationships/notesMaster" Target="/ppt/notesMasters/notesMaster1.xml" Id="Rddcded853c7042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a2f6b7a3ad47a2" /><Relationship Type="http://schemas.openxmlformats.org/officeDocument/2006/relationships/notesMaster" Target="/ppt/notesMasters/notesMaster1.xml" Id="Ref0560fea61940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321bacbbf240c3" /><Relationship Type="http://schemas.openxmlformats.org/officeDocument/2006/relationships/notesMaster" Target="/ppt/notesMasters/notesMaster1.xml" Id="R8755526d9a624f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12a5d774e0449e" /><Relationship Type="http://schemas.openxmlformats.org/officeDocument/2006/relationships/notesMaster" Target="/ppt/notesMasters/notesMaster1.xml" Id="Ra27402b8da504f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49a0f40f074e30" /><Relationship Type="http://schemas.openxmlformats.org/officeDocument/2006/relationships/notesMaster" Target="/ppt/notesMasters/notesMaster1.xml" Id="R1500129f737047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589de3a6fa4808" /><Relationship Type="http://schemas.openxmlformats.org/officeDocument/2006/relationships/notesMaster" Target="/ppt/notesMasters/notesMaster1.xml" Id="Rf5e984a975e240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af47d72177497e" /><Relationship Type="http://schemas.openxmlformats.org/officeDocument/2006/relationships/notesMaster" Target="/ppt/notesMasters/notesMaster1.xml" Id="R00cb7445a22044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65f7cb440548ef" /><Relationship Type="http://schemas.openxmlformats.org/officeDocument/2006/relationships/notesMaster" Target="/ppt/notesMasters/notesMaster1.xml" Id="Ra7c6c110f56e44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选题依据：仓库根目录任务书第二部分与通用交付要求。现阶段硬件测试尚未完成。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docs/00-系统设计.md。本次报告仅包含已运行的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docs/00-系统设计.md。本次报告仅包含已运行的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docs/00-系统设计.md。本次报告仅包含已运行的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experiments/task1/raw.json 与 summary.csv。本次报告仅包含已运行的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experiments/task1/raw.json 的 branches。本次报告仅包含已运行的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test/README.md 与 experiments/task1/。本次报告仅包含已运行的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来源：Professional-Internship 仓库 docs/04-复现与演示.md。本次报告仅包含已运行的 CPU 仿真与测试。RTX 4060 Laptop 的 CUDA/Qwen3 实测待执行。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0348be0d3c40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8c7e9e3e674c77" /><Relationship Type="http://schemas.openxmlformats.org/officeDocument/2006/relationships/slideLayout" Target="/ppt/slideLayouts/slideLayout1.xml" Id="R7eb3748f806c4b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b3748f806c4b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9074dbc884146" /><Relationship Type="http://schemas.openxmlformats.org/officeDocument/2006/relationships/notesSlide" Target="/ppt/notesSlides/notesSlide1.xml" Id="R4b701f69944a4f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85a8fb7eb44cf" /><Relationship Type="http://schemas.openxmlformats.org/officeDocument/2006/relationships/notesSlide" Target="/ppt/notesSlides/notesSlide2.xml" Id="R53e1b1ce955549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bc01e477f4f4d" /><Relationship Type="http://schemas.openxmlformats.org/officeDocument/2006/relationships/notesSlide" Target="/ppt/notesSlides/notesSlide3.xml" Id="R0674ee900d6341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209f5ecdc439e" /><Relationship Type="http://schemas.openxmlformats.org/officeDocument/2006/relationships/notesSlide" Target="/ppt/notesSlides/notesSlide4.xml" Id="Rffbf009e9c4f4c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7867a56394846" /><Relationship Type="http://schemas.openxmlformats.org/officeDocument/2006/relationships/chart" Target="/ppt/slides/charts/chart1.xml" Id="R228b21fa1cbd4146" /><Relationship Type="http://schemas.openxmlformats.org/officeDocument/2006/relationships/notesSlide" Target="/ppt/notesSlides/notesSlide5.xml" Id="Rd84b82e6991e46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4345bb8b54523" /><Relationship Type="http://schemas.openxmlformats.org/officeDocument/2006/relationships/chart" Target="/ppt/slides/charts/chart2.xml" Id="R8f1fccccf2044216" /><Relationship Type="http://schemas.openxmlformats.org/officeDocument/2006/relationships/notesSlide" Target="/ppt/notesSlides/notesSlide6.xml" Id="R774218e9d17449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1c0bf7bc14cbd" /><Relationship Type="http://schemas.openxmlformats.org/officeDocument/2006/relationships/notesSlide" Target="/ppt/notesSlides/notesSlide7.xml" Id="R0d85a59c96c742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f0b1a4e1846bf" /><Relationship Type="http://schemas.openxmlformats.org/officeDocument/2006/relationships/notesSlide" Target="/ppt/notesSlides/notesSlide8.xml" Id="R451c68e423e340a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连续预分配</c:v>
          </c:tx>
          <c:spPr>
            <a:solidFill xmlns:a="http://schemas.openxmlformats.org/drawingml/2006/main">
              <a:srgbClr val="8A96A8"/>
            </a:solidFill>
          </c:spPr>
          <c:cat>
            <c:strRef>
              <c:f>'Chart Data'!$A$2:$A$4</c:f>
              <c:strCache>
                <c:ptCount val="3"/>
                <c:pt idx="0">
                  <c:v>8 页</c:v>
                </c:pt>
                <c:pt idx="1">
                  <c:v>16 页</c:v>
                </c:pt>
                <c:pt idx="2">
                  <c:v>32 页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1.6667</c:v>
                </c:pt>
                <c:pt idx="1">
                  <c:v>3</c:v>
                </c:pt>
                <c:pt idx="2">
                  <c:v>5.6667</c:v>
                </c:pt>
              </c:numCache>
            </c:numRef>
          </c:val>
        </c:ser>
        <c:ser>
          <c:idx val="1"/>
          <c:order val="1"/>
          <c:tx>
            <c:v>按需分页</c:v>
          </c:tx>
          <c:spPr>
            <a:solidFill xmlns:a="http://schemas.openxmlformats.org/drawingml/2006/main">
              <a:srgbClr val="2771B6"/>
            </a:solidFill>
          </c:spPr>
          <c:cat>
            <c:strRef>
              <c:f>'Chart Data'!$C$2:$C$4</c:f>
              <c:strCache>
                <c:ptCount val="3"/>
                <c:pt idx="0">
                  <c:v>8 页</c:v>
                </c:pt>
                <c:pt idx="1">
                  <c:v>16 页</c:v>
                </c:pt>
                <c:pt idx="2">
                  <c:v>32 页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4.6667</c:v>
                </c:pt>
                <c:pt idx="1">
                  <c:v>11</c:v>
                </c:pt>
                <c:pt idx="2">
                  <c:v>19.3333</c:v>
                </c:pt>
              </c:numCache>
            </c:numRef>
          </c:val>
        </c:ser>
        <c:ser>
          <c:idx val="2"/>
          <c:order val="2"/>
          <c:tx>
            <c:v>分页与主机换页</c:v>
          </c:tx>
          <c:spPr>
            <a:solidFill xmlns:a="http://schemas.openxmlformats.org/drawingml/2006/main">
              <a:srgbClr val="159B86"/>
            </a:solidFill>
          </c:spPr>
          <c:cat>
            <c:strRef>
              <c:f>'Chart Data'!$E$2:$E$4</c:f>
              <c:strCache>
                <c:ptCount val="3"/>
                <c:pt idx="0">
                  <c:v>8 页</c:v>
                </c:pt>
                <c:pt idx="1">
                  <c:v>16 页</c:v>
                </c:pt>
                <c:pt idx="2">
                  <c:v>32 页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25.3333</c:v>
                </c:pt>
                <c:pt idx="1">
                  <c:v>28.3333</c:v>
                </c:pt>
                <c:pt idx="2">
                  <c:v>32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PingFang SC"/>
              <a:ea typeface="PingFang SC"/>
              <a:cs typeface="PingFang SC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分支写入前</c:v>
          </c:tx>
          <c:spPr>
            <a:solidFill xmlns:a="http://schemas.openxmlformats.org/drawingml/2006/main">
              <a:srgbClr val="8A96A8"/>
            </a:solidFill>
          </c:spPr>
          <c:cat>
            <c:strRef>
              <c:f>'Chart Data'!$A$2:$A$3</c:f>
              <c:strCache>
                <c:ptCount val="2"/>
                <c:pt idx="0">
                  <c:v>独立复制</c:v>
                </c:pt>
                <c:pt idx="1">
                  <c:v>共享与 COW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108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v>分支写入后</c:v>
          </c:tx>
          <c:spPr>
            <a:solidFill xmlns:a="http://schemas.openxmlformats.org/drawingml/2006/main">
              <a:srgbClr val="2771B6"/>
            </a:solidFill>
          </c:spPr>
          <c:cat>
            <c:strRef>
              <c:f>'Chart Data'!$C$2:$C$3</c:f>
              <c:strCache>
                <c:ptCount val="2"/>
                <c:pt idx="0">
                  <c:v>独立复制</c:v>
                </c:pt>
                <c:pt idx="1">
                  <c:v>共享与 COW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108</c:v>
                </c:pt>
                <c:pt idx="1">
                  <c:v>44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PingFang SC"/>
                  <a:ea typeface="PingFang SC"/>
                  <a:cs typeface="PingFang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PingFang SC"/>
                <a:ea typeface="PingFang SC"/>
                <a:cs typeface="PingFang SC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PingFang SC"/>
              <a:ea typeface="PingFang SC"/>
              <a:cs typeface="PingFang SC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3DC0C-822F-4C09-ABEE-1A1CA773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570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KV Cache</a:t>
            </a:r>
          </a:p>
          <a:p xmlns:a="http://schemas.openxmlformats.org/drawingml/2006/main">
            <a:pPr>
              <a:defRPr sz="570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570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分页内存管理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AB5DC-DC8B-4066-B3BF-399A0DDE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481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5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专业实习课程任务一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9ACE9-1F7C-4711-8AC5-39402A7F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分页、共享与 COW、LRU 换页的设计和验证</a:t>
            </a:r>
          </a:p>
        </p:txBody>
      </p:sp>
    </p:spTree>
    <p:extLst>
      <p:ext uri="{BB962C8B-B14F-4D97-AF65-F5344CB8AC3E}">
        <p14:creationId xmlns:p14="http://schemas.microsoft.com/office/powerpoint/2010/main" val="214110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9AF88-DB9F-4F1A-A66F-94D1F3EB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课程问题与验收范围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A0C9B-401C-4FCB-829A-3713D92A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变长生成让 KV 空间需求持续增长，预留最大长度会浪费空间。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FD39-717F-458F-9F6C-4E57F2CE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分页把逻辑 token 地址映射到离散物理块，按实际进度扩展。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02938-96DB-4F33-B382-8E9D0CD6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公共前缀通过共享与写时复制减少重复保存。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56E957-1A46-478A-BABA-2C591355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显存压力下将可换出的页保存到主机，访问前恢复工作集。</a:t>
            </a:r>
          </a:p>
        </p:txBody>
      </p:sp>
    </p:spTree>
    <p:extLst>
      <p:ext uri="{BB962C8B-B14F-4D97-AF65-F5344CB8AC3E}">
        <p14:creationId xmlns:p14="http://schemas.microsoft.com/office/powerpoint/2010/main" val="953369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0A182-D29B-4412-B980-2A193755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管理逻辑与存储后端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297C0-2731-4606-8C5B-0078CA8B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PagedMemory：页表、引用计数、COW、驻留状态与 LRU。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60745-D866-40DB-BAC3-83D2092C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ListStorage：CPU 页内容模型，便于核对复制和换页。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B4628-8046-4460-855E-DD4CD464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TorchStorage：真实 KV 张量、主机页池与数据搬运。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DB0D8-C103-496D-9F50-5BBD4724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MemoryRuntime：固定轮询请求，Qwen3 回调执行真实前向。</a:t>
            </a:r>
          </a:p>
        </p:txBody>
      </p:sp>
    </p:spTree>
    <p:extLst>
      <p:ext uri="{BB962C8B-B14F-4D97-AF65-F5344CB8AC3E}">
        <p14:creationId xmlns:p14="http://schemas.microsoft.com/office/powerpoint/2010/main" val="2529626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B16E9-4966-493A-ABDF-801A77D0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COW 与换页正确性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FAC5E-2752-4493-9F65-8140C7BB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fork 只增加共享引用，写入时复制受影响的共享页。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3D872-5916-4A7D-AB69-CAEC81A4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计算前固定完整工作集，计算完成后解除页固定。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6072B-0CC2-49E1-846F-00D12CEE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主机池满时交换 GPU 页与换入页的主机槽位。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BF821-58D7-4B60-8861-CDCAF1C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随机生命周期、不同释放顺序和复制失败用例检查状态一致性。</a:t>
            </a:r>
          </a:p>
        </p:txBody>
      </p:sp>
    </p:spTree>
    <p:extLst>
      <p:ext uri="{BB962C8B-B14F-4D97-AF65-F5344CB8AC3E}">
        <p14:creationId xmlns:p14="http://schemas.microsoft.com/office/powerpoint/2010/main" val="7680932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FF4F3-7E7D-4078-96CF-E41B79FD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固定物理容量下的请求完成数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8b21fa1cbd4146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5F198-F145-47E7-B448-78432963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CPU 仿真：每页 4 token，每组 32 条请求，3 个种子均值。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1660F-5DF5-45A1-BAC7-0C3D2B96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150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换页额外使用 32 个主机页。完成数增加伴随数据搬运代价。</a:t>
            </a:r>
          </a:p>
        </p:txBody>
      </p:sp>
    </p:spTree>
    <p:extLst>
      <p:ext uri="{BB962C8B-B14F-4D97-AF65-F5344CB8AC3E}">
        <p14:creationId xmlns:p14="http://schemas.microsoft.com/office/powerpoint/2010/main" val="172027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D9EF5-8C34-4B20-9587-929AAA76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共享分支的物理空间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1fccccf2044216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A6084-5371-4858-BE4C-2FFD1F7B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CPU 仿真：9-token 前缀、8 个分支、每页 4 token。单位为槽位。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1596B-17FC-4A91-80EE-0D03333A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150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各分支追加 1 token 后，物理分配槽位由 108 减为 44。</a:t>
            </a:r>
          </a:p>
        </p:txBody>
      </p:sp>
    </p:spTree>
    <p:extLst>
      <p:ext uri="{BB962C8B-B14F-4D97-AF65-F5344CB8AC3E}">
        <p14:creationId xmlns:p14="http://schemas.microsoft.com/office/powerpoint/2010/main" val="9537377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8364C-25AA-4F2D-8D63-272B6A84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验证结果与实现边界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1798E-871B-4E4E-A948-107DA552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已运行：CPU 分页、COW、换页与真实 CPU 张量后端测试。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6B626-ECB2-45AD-B540-537E8C82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已有 129 组确定性容量实验，原始数据与图表可重新生成。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C3B7E-0ACD-4A78-9968-E009C16B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待运行：RTX 4060 Laptop 的 CUDA 页往返与 Qwen3 输出对照。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E30A0-97E5-4144-8CAA-5D13140F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单次 Attention 的完整 KV 工作集必须放入物理显存池。</a:t>
            </a:r>
          </a:p>
        </p:txBody>
      </p:sp>
    </p:spTree>
    <p:extLst>
      <p:ext uri="{BB962C8B-B14F-4D97-AF65-F5344CB8AC3E}">
        <p14:creationId xmlns:p14="http://schemas.microsoft.com/office/powerpoint/2010/main" val="12597754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BBAFAE-F335-4746-BD88-90EDDBFA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2283A"/>
                </a:solidFill>
                <a:latin typeface="PingFang SC"/>
                <a:ea typeface="PingFang SC"/>
                <a:cs typeface="PingFang SC"/>
              </a:rPr>
              <a:t>复现入口与后续验收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68A6C-7919-4FFA-B97A-1FAA9863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本地测试：bash scripts/setup_cpu.sh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E36456-C31A-4AA2-97E2-BACB39AA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717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容量实验：python3 bench/bench_memory.py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1B341-F03A-43E9-B01C-9C003DE5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GPU 验证：bash scripts/validate_gpu.sh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AC5C1-2B25-47EA-81E9-1D8F46AC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263748"/>
                </a:solidFill>
                <a:latin typeface="PingFang SC"/>
                <a:ea typeface="PingFang SC"/>
                <a:cs typeface="PingFang SC"/>
              </a:rPr>
              <a:t>补齐 GPU 报告与五分钟实际演示，按真实过程整理分工和互审。</a:t>
            </a:r>
          </a:p>
        </p:txBody>
      </p:sp>
    </p:spTree>
    <p:extLst>
      <p:ext uri="{BB962C8B-B14F-4D97-AF65-F5344CB8AC3E}">
        <p14:creationId xmlns:p14="http://schemas.microsoft.com/office/powerpoint/2010/main" val="4329328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2026-09-15T11:41:38.6160000Z</dcterms:created>
  <dcterms:modified xsi:type="dcterms:W3CDTF">2026-09-15T11:41:38.6160000Z</dcterms:modified>
</coreProperties>
</file>