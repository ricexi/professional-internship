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e1341dacb045ea" /><Relationship Type="http://schemas.openxmlformats.org/officeDocument/2006/relationships/extended-properties" Target="/docProps/app.xml" Id="R263fcc751b404427" /><Relationship Type="http://schemas.openxmlformats.org/officeDocument/2006/relationships/officeDocument" Target="/ppt/presentation.xml" Id="Rec22d834920b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9f22823d074af2"/>
  </p:sldMasterIdLst>
  <p:notesMasterIdLst>
    <p:notesMasterId xmlns:r="http://schemas.openxmlformats.org/officeDocument/2006/relationships" r:id="Rcc7b3d884f074a27"/>
  </p:notesMasterIdLst>
  <p:sldIdLst>
    <p:sldId xmlns:r="http://schemas.openxmlformats.org/officeDocument/2006/relationships" id="256" r:id="R7a690694b0f344c6"/>
    <p:sldId xmlns:r="http://schemas.openxmlformats.org/officeDocument/2006/relationships" id="257" r:id="R65e591da1788489f"/>
    <p:sldId xmlns:r="http://schemas.openxmlformats.org/officeDocument/2006/relationships" id="258" r:id="R3b4eb34eec9f4ddb"/>
    <p:sldId xmlns:r="http://schemas.openxmlformats.org/officeDocument/2006/relationships" id="259" r:id="Rb02fc82d5f0c43c3"/>
    <p:sldId xmlns:r="http://schemas.openxmlformats.org/officeDocument/2006/relationships" id="260" r:id="R8cc92b53611343c6"/>
    <p:sldId xmlns:r="http://schemas.openxmlformats.org/officeDocument/2006/relationships" id="261" r:id="R09f8c3c1ffb949e2"/>
    <p:sldId xmlns:r="http://schemas.openxmlformats.org/officeDocument/2006/relationships" id="262" r:id="Reed0ae525f2d4cc7"/>
    <p:sldId xmlns:r="http://schemas.openxmlformats.org/officeDocument/2006/relationships" id="263" r:id="Rdd8f158c69a24578"/>
    <p:sldId xmlns:r="http://schemas.openxmlformats.org/officeDocument/2006/relationships" id="264" r:id="R3f8f159109294da2"/>
    <p:sldId xmlns:r="http://schemas.openxmlformats.org/officeDocument/2006/relationships" id="265" r:id="Rd2a1015d28dd4f63"/>
    <p:sldId xmlns:r="http://schemas.openxmlformats.org/officeDocument/2006/relationships" id="266" r:id="R9e9f96b183074e01"/>
    <p:sldId xmlns:r="http://schemas.openxmlformats.org/officeDocument/2006/relationships" id="267" r:id="R118f43f5addc4e7f"/>
    <p:sldId xmlns:r="http://schemas.openxmlformats.org/officeDocument/2006/relationships" id="268" r:id="Re95d655610984a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6adcc7856437d" /><Relationship Type="http://schemas.openxmlformats.org/officeDocument/2006/relationships/slideMaster" Target="/ppt/slideMasters/slideMaster1.xml" Id="R369f22823d074af2" /><Relationship Type="http://schemas.openxmlformats.org/officeDocument/2006/relationships/notesMaster" Target="/ppt/notesMasters/notesMaster1.xml" Id="Rcc7b3d884f074a27" /><Relationship Type="http://schemas.openxmlformats.org/officeDocument/2006/relationships/presProps" Target="/ppt/presProps.xml" Id="R7463878895c04a43" /><Relationship Type="http://schemas.openxmlformats.org/officeDocument/2006/relationships/tableStyles" Target="/ppt/tableStyles.xml" Id="Rb3d3933d218d4a5b" /><Relationship Type="http://schemas.openxmlformats.org/officeDocument/2006/relationships/slide" Target="/ppt/slides/slide1.xml" Id="R7a690694b0f344c6" /><Relationship Type="http://schemas.openxmlformats.org/officeDocument/2006/relationships/slide" Target="/ppt/slides/slide2.xml" Id="R65e591da1788489f" /><Relationship Type="http://schemas.openxmlformats.org/officeDocument/2006/relationships/slide" Target="/ppt/slides/slide3.xml" Id="R3b4eb34eec9f4ddb" /><Relationship Type="http://schemas.openxmlformats.org/officeDocument/2006/relationships/slide" Target="/ppt/slides/slide4.xml" Id="Rb02fc82d5f0c43c3" /><Relationship Type="http://schemas.openxmlformats.org/officeDocument/2006/relationships/slide" Target="/ppt/slides/slide5.xml" Id="R8cc92b53611343c6" /><Relationship Type="http://schemas.openxmlformats.org/officeDocument/2006/relationships/slide" Target="/ppt/slides/slide6.xml" Id="R09f8c3c1ffb949e2" /><Relationship Type="http://schemas.openxmlformats.org/officeDocument/2006/relationships/slide" Target="/ppt/slides/slide7.xml" Id="Reed0ae525f2d4cc7" /><Relationship Type="http://schemas.openxmlformats.org/officeDocument/2006/relationships/slide" Target="/ppt/slides/slide8.xml" Id="Rdd8f158c69a24578" /><Relationship Type="http://schemas.openxmlformats.org/officeDocument/2006/relationships/slide" Target="/ppt/slides/slide9.xml" Id="R3f8f159109294da2" /><Relationship Type="http://schemas.openxmlformats.org/officeDocument/2006/relationships/slide" Target="/ppt/slides/slide10.xml" Id="Rd2a1015d28dd4f63" /><Relationship Type="http://schemas.openxmlformats.org/officeDocument/2006/relationships/slide" Target="/ppt/slides/slide11.xml" Id="R9e9f96b183074e01" /><Relationship Type="http://schemas.openxmlformats.org/officeDocument/2006/relationships/slide" Target="/ppt/slides/slide12.xml" Id="R118f43f5addc4e7f" /><Relationship Type="http://schemas.openxmlformats.org/officeDocument/2006/relationships/slide" Target="/ppt/slides/slide13.xml" Id="Re95d655610984a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4ff500cb6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0caa20f5c4ae6" /><Relationship Type="http://schemas.openxmlformats.org/officeDocument/2006/relationships/notesMaster" Target="/ppt/notesMasters/notesMaster1.xml" Id="R9081389ef1144d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f3306774f24d81" /><Relationship Type="http://schemas.openxmlformats.org/officeDocument/2006/relationships/notesMaster" Target="/ppt/notesMasters/notesMaster1.xml" Id="R658cab91bb554d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8c5ec40464935" /><Relationship Type="http://schemas.openxmlformats.org/officeDocument/2006/relationships/notesMaster" Target="/ppt/notesMasters/notesMaster1.xml" Id="R739fe5131b4c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98e0063f4446ff" /><Relationship Type="http://schemas.openxmlformats.org/officeDocument/2006/relationships/notesMaster" Target="/ppt/notesMasters/notesMaster1.xml" Id="R52bb7bbdc1944b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845ef7e7044ec7" /><Relationship Type="http://schemas.openxmlformats.org/officeDocument/2006/relationships/notesMaster" Target="/ppt/notesMasters/notesMaster1.xml" Id="R832327e9eb16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eded5022934b6a" /><Relationship Type="http://schemas.openxmlformats.org/officeDocument/2006/relationships/notesMaster" Target="/ppt/notesMasters/notesMaster1.xml" Id="R0ff0828c5c8546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c6b3a2339544d4" /><Relationship Type="http://schemas.openxmlformats.org/officeDocument/2006/relationships/notesMaster" Target="/ppt/notesMasters/notesMaster1.xml" Id="R128c570b3fff44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2942feabad45eb" /><Relationship Type="http://schemas.openxmlformats.org/officeDocument/2006/relationships/notesMaster" Target="/ppt/notesMasters/notesMaster1.xml" Id="R736a32dcf71348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fe7418bf374cc4" /><Relationship Type="http://schemas.openxmlformats.org/officeDocument/2006/relationships/notesMaster" Target="/ppt/notesMasters/notesMaster1.xml" Id="R6b1496c205324c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c9fb5478bf4427" /><Relationship Type="http://schemas.openxmlformats.org/officeDocument/2006/relationships/notesMaster" Target="/ppt/notesMasters/notesMaster1.xml" Id="R3291509bea7d49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19e483833f4c76" /><Relationship Type="http://schemas.openxmlformats.org/officeDocument/2006/relationships/notesMaster" Target="/ppt/notesMasters/notesMaster1.xml" Id="R635dac49ffc545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75e776b00741ab" /><Relationship Type="http://schemas.openxmlformats.org/officeDocument/2006/relationships/notesMaster" Target="/ppt/notesMasters/notesMaster1.xml" Id="R124c1f18cfbe42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abdc9e5b7f4943" /><Relationship Type="http://schemas.openxmlformats.org/officeDocument/2006/relationships/notesMaster" Target="/ppt/notesMasters/notesMaster1.xml" Id="R0c5be27904864b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介绍变长生成与前缀重复保存造成的空间浪费。随后依次说明管理机制、实现和实验。</a:t>
            </a:r>
          </a:p>
          <a:p xmlns:a="http://schemas.openxmlformats.org/drawingml/2006/main">
            <a:r>
              <a:t>来源：任务书第 2、6、8.1 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重点讲地址空间、共享引用和页面置换。页表在用户态维护，分配器采用固定块空闲队列。</a:t>
            </a:r>
          </a:p>
          <a:p xmlns:a="http://schemas.openxmlformats.org/drawingml/2006/main">
            <a:r>
              <a:t>来源：src/memory/paging.py；任务书 8.1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管理逻辑共用，数据存储分为列表和张量两个后端。CourseEngine 将运行器接到 Qwen3 执行器，页面分配权只属于 PagedMemory。</a:t>
            </a:r>
          </a:p>
          <a:p xmlns:a="http://schemas.openxmlformats.org/drawingml/2006/main">
            <a:r>
              <a:t>来源：src/memory/；src/control/engine.py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以每页4个token为例，位置9对应第2页和页内偏移1。页ID保持稳定，换入换出只改变驻留位置。</a:t>
            </a:r>
          </a:p>
          <a:p xmlns:a="http://schemas.openxmlformats.org/drawingml/2006/main">
            <a:r>
              <a:t>来源：src/memory/paging.py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fork只复制页ID列表。未满尾页被多个分支共享时，追加先复制该页。完整前缀继续共享。只有复制完成才替换映射。</a:t>
            </a:r>
          </a:p>
          <a:p xmlns:a="http://schemas.openxmlformats.org/drawingml/2006/main">
            <a:r>
              <a:t>来源：src/memory/paging.py；test/cpu/test_cow.py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LRU只考虑未固定页。主机满时交换槽位，临时多用一页主机缓冲。所有搬运同步完成，随后才执行前向。</a:t>
            </a:r>
          </a:p>
          <a:p xmlns:a="http://schemas.openxmlformats.org/drawingml/2006/main">
            <a:r>
              <a:t>来源：src/memory/paging.py；runtime.py；torch_storage.py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81组混合负载加48组容量扫描，共129组。各策略用相同负载和顺序。连续基线预留最大长度，分页按实际长度增长。</a:t>
            </a:r>
          </a:p>
          <a:p xmlns:a="http://schemas.openxmlformats.org/drawingml/2006/main">
            <a:r>
              <a:t>来源：bench/bench_memory.py；experiments/task1/raw.json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图中为种子42、43、44的均值。32页时三种策略分别完成5.67、19.33和32条。报告给出样本标准差。换页还使用了额外主机容量。</a:t>
            </a:r>
          </a:p>
          <a:p xmlns:a="http://schemas.openxmlformats.org/drawingml/2006/main">
            <a:r>
              <a:t>来源：experiments/task1/summary.csv，mixed，block_size=4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碎片率按各tick的分配槽位加权。32页时连续为79.8%，分页19.0%，换页18.3%。从连续到分页下降60.9个百分点。共享页只计一次，换页方案的分母包括主机页。</a:t>
            </a:r>
          </a:p>
          <a:p xmlns:a="http://schemas.openxmlformats.org/drawingml/2006/main">
            <a:r>
              <a:t>来源：experiments/task1/summary.csv，mixed，block_size=4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父序列9token，8个分支，各追加1个不同token。独立保存用108槽位，COW用44，减少59.3%。8次复制只发生在共享未满尾页。</a:t>
            </a:r>
          </a:p>
          <a:p xmlns:a="http://schemas.openxmlformats.org/drawingml/2006/main">
            <a:r>
              <a:t>来源：experiments/task1/raw.json，branches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物理32token、主机256token。连续预留64一条也放不下。分页同时接纳16条，增长时没有准入等待而直接失败，因此本组也为0。换页可以轮流驻留，但64token单请求超过物理容量仍失败。这不是硬件最大并发测量。</a:t>
            </a:r>
          </a:p>
          <a:p xmlns:a="http://schemas.openxmlformats.org/drawingml/2006/main">
            <a:r>
              <a:t>来源：experiments/task1/summary.csv，capacity_sweep，concurrency=16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35项CPU张量环境全通过，总覆盖率93.64%。纯CPU32通过3跳过，覆盖率81.98%。真实CUDA页往返和Qwen3对照尚待4060Laptop执行。</a:t>
            </a:r>
          </a:p>
          <a:p xmlns:a="http://schemas.openxmlformats.org/drawingml/2006/main">
            <a:r>
              <a:t>来源：experiments/task1/tests-*；test/validate_gpu.py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按需分页降低预留浪费，COW减少重复前缀保存，主机换页在容量与搬运成本之间取舍。现场演示demo_memory，再看CPU测试与报告；GPU结果待实测补充。</a:t>
            </a:r>
          </a:p>
          <a:p xmlns:a="http://schemas.openxmlformats.org/drawingml/2006/main">
            <a:r>
              <a:t>来源：系统设计文档；量化评测报告；scripts/demo_memory.py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7454a50494b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6ba2f0fb34206" /><Relationship Type="http://schemas.openxmlformats.org/officeDocument/2006/relationships/slideLayout" Target="/ppt/slideLayouts/slideLayout1.xml" Id="R3defa51ba8e8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efa51ba8e8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3b67ccb5e4e90" /><Relationship Type="http://schemas.openxmlformats.org/officeDocument/2006/relationships/notesSlide" Target="/ppt/notesSlides/notesSlide1.xml" Id="R089a2b957694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2545943f4151" /><Relationship Type="http://schemas.openxmlformats.org/officeDocument/2006/relationships/notesSlide" Target="/ppt/notesSlides/notesSlide2.xml" Id="Rdc7b80743073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5b1b0a5a9438d" /><Relationship Type="http://schemas.openxmlformats.org/officeDocument/2006/relationships/notesSlide" Target="/ppt/notesSlides/notesSlide3.xml" Id="R5380ba7bb00340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3ecaaa6b84f6b" /><Relationship Type="http://schemas.openxmlformats.org/officeDocument/2006/relationships/notesSlide" Target="/ppt/notesSlides/notesSlide4.xml" Id="R7b18adace3ef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e756d02f4a40" /><Relationship Type="http://schemas.openxmlformats.org/officeDocument/2006/relationships/notesSlide" Target="/ppt/notesSlides/notesSlide5.xml" Id="R6ff3cd4e8818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e76101a16492b" /><Relationship Type="http://schemas.openxmlformats.org/officeDocument/2006/relationships/notesSlide" Target="/ppt/notesSlides/notesSlide6.xml" Id="Ra7871aa5cdee43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c55f8d2cc4ca6" /><Relationship Type="http://schemas.openxmlformats.org/officeDocument/2006/relationships/notesSlide" Target="/ppt/notesSlides/notesSlide7.xml" Id="Rd08252cc4cf843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a206e30464934" /><Relationship Type="http://schemas.openxmlformats.org/officeDocument/2006/relationships/chart" Target="/ppt/slides/charts/chart1.xml" Id="R403197df98ab468e" /><Relationship Type="http://schemas.openxmlformats.org/officeDocument/2006/relationships/notesSlide" Target="/ppt/notesSlides/notesSlide8.xml" Id="R5d20db172ce44e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dc7df3ec4e43" /><Relationship Type="http://schemas.openxmlformats.org/officeDocument/2006/relationships/chart" Target="/ppt/slides/charts/chart2.xml" Id="R76f9108fde7d4423" /><Relationship Type="http://schemas.openxmlformats.org/officeDocument/2006/relationships/notesSlide" Target="/ppt/notesSlides/notesSlide9.xml" Id="R60a3739a777349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9e17dc68f430a" /><Relationship Type="http://schemas.openxmlformats.org/officeDocument/2006/relationships/chart" Target="/ppt/slides/charts/chart3.xml" Id="R219335453b124159" /><Relationship Type="http://schemas.openxmlformats.org/officeDocument/2006/relationships/notesSlide" Target="/ppt/notesSlides/notesSlide10.xml" Id="R8eacbfe58a344c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b5c09484d4ee5" /><Relationship Type="http://schemas.openxmlformats.org/officeDocument/2006/relationships/notesSlide" Target="/ppt/notesSlides/notesSlide11.xml" Id="Rb66d8c2978304e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24da4aac4be5" /><Relationship Type="http://schemas.openxmlformats.org/officeDocument/2006/relationships/notesSlide" Target="/ppt/notesSlides/notesSlide12.xml" Id="R088f11b5a35a44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0b0a50634720" /><Relationship Type="http://schemas.openxmlformats.org/officeDocument/2006/relationships/notesSlide" Target="/ppt/notesSlides/notesSlide13.xml" Id="R1e4bf809e79143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连续预分配</c:v>
          </c:tx>
          <c:spPr>
            <a:solidFill xmlns:a="http://schemas.openxmlformats.org/drawingml/2006/main">
              <a:srgbClr val="8290A0"/>
            </a:solidFill>
          </c:spPr>
          <c:cat>
            <c:strRef>
              <c:f>'Chart Data'!$A$2:$A$4</c:f>
              <c:strCache>
                <c:ptCount val="3"/>
                <c:pt idx="0">
                  <c:v>8 页</c:v>
                </c:pt>
                <c:pt idx="1">
                  <c:v>16 页</c:v>
                </c:pt>
                <c:pt idx="2">
                  <c:v>32 页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1.67</c:v>
                </c:pt>
                <c:pt idx="1">
                  <c:v>3</c:v>
                </c:pt>
                <c:pt idx="2">
                  <c:v>5.67</c:v>
                </c:pt>
              </c:numCache>
            </c:numRef>
          </c:val>
        </c:ser>
        <c:ser>
          <c:idx val="1"/>
          <c:order val="1"/>
          <c:tx>
            <c:v>按需分页</c:v>
          </c:tx>
          <c:spPr>
            <a:solidFill xmlns:a="http://schemas.openxmlformats.org/drawingml/2006/main">
              <a:srgbClr val="286CA8"/>
            </a:solidFill>
          </c:spPr>
          <c:cat>
            <c:strRef>
              <c:f>'Chart Data'!$C$2:$C$4</c:f>
              <c:strCache>
                <c:ptCount val="3"/>
                <c:pt idx="0">
                  <c:v>8 页</c:v>
                </c:pt>
                <c:pt idx="1">
                  <c:v>16 页</c:v>
                </c:pt>
                <c:pt idx="2">
                  <c:v>32 页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4.67</c:v>
                </c:pt>
                <c:pt idx="1">
                  <c:v>11</c:v>
                </c:pt>
                <c:pt idx="2">
                  <c:v>19.33</c:v>
                </c:pt>
              </c:numCache>
            </c:numRef>
          </c:val>
        </c:ser>
        <c:ser>
          <c:idx val="2"/>
          <c:order val="2"/>
          <c:tx>
            <c:v>分页与主机换页</c:v>
          </c:tx>
          <c:spPr>
            <a:solidFill xmlns:a="http://schemas.openxmlformats.org/drawingml/2006/main">
              <a:srgbClr val="168578"/>
            </a:solidFill>
          </c:spPr>
          <c:cat>
            <c:strRef>
              <c:f>'Chart Data'!$E$2:$E$4</c:f>
              <c:strCache>
                <c:ptCount val="3"/>
                <c:pt idx="0">
                  <c:v>8 页</c:v>
                </c:pt>
                <c:pt idx="1">
                  <c:v>16 页</c:v>
                </c:pt>
                <c:pt idx="2">
                  <c:v>32 页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25.33</c:v>
                </c:pt>
                <c:pt idx="1">
                  <c:v>28.33</c:v>
                </c:pt>
                <c:pt idx="2">
                  <c:v>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连续预分配</c:v>
          </c:tx>
          <c:spPr>
            <a:solidFill xmlns:a="http://schemas.openxmlformats.org/drawingml/2006/main">
              <a:srgbClr val="8290A0"/>
            </a:solidFill>
          </c:spPr>
          <c:cat>
            <c:strRef>
              <c:f>'Chart Data'!$A$2:$A$4</c:f>
              <c:strCache>
                <c:ptCount val="3"/>
                <c:pt idx="0">
                  <c:v>8 页</c:v>
                </c:pt>
                <c:pt idx="1">
                  <c:v>16 页</c:v>
                </c:pt>
                <c:pt idx="2">
                  <c:v>32 页</c:v>
                </c:pt>
              </c:strCache>
            </c:strRef>
          </c:cat>
          <c:val>
            <c:numRef>
              <c:f>'Chart Data'!$B$2:$B$4</c:f>
              <c:numCache>
                <c:formatCode>0.0"%"</c:formatCode>
                <c:ptCount val="3"/>
                <c:pt idx="0">
                  <c:v>85.4</c:v>
                </c:pt>
                <c:pt idx="1">
                  <c:v>82.3</c:v>
                </c:pt>
                <c:pt idx="2">
                  <c:v>79.8</c:v>
                </c:pt>
              </c:numCache>
            </c:numRef>
          </c:val>
        </c:ser>
        <c:ser>
          <c:idx val="1"/>
          <c:order val="1"/>
          <c:tx>
            <c:v>按需分页</c:v>
          </c:tx>
          <c:spPr>
            <a:solidFill xmlns:a="http://schemas.openxmlformats.org/drawingml/2006/main">
              <a:srgbClr val="286CA8"/>
            </a:solidFill>
          </c:spPr>
          <c:cat>
            <c:strRef>
              <c:f>'Chart Data'!$C$2:$C$4</c:f>
              <c:strCache>
                <c:ptCount val="3"/>
                <c:pt idx="0">
                  <c:v>8 页</c:v>
                </c:pt>
                <c:pt idx="1">
                  <c:v>16 页</c:v>
                </c:pt>
                <c:pt idx="2">
                  <c:v>32 页</c:v>
                </c:pt>
              </c:strCache>
            </c:strRef>
          </c:cat>
          <c:val>
            <c:numRef>
              <c:f>'Chart Data'!$D$2:$D$4</c:f>
              <c:numCache>
                <c:formatCode>0.0"%"</c:formatCode>
                <c:ptCount val="3"/>
                <c:pt idx="0">
                  <c:v>25.1</c:v>
                </c:pt>
                <c:pt idx="1">
                  <c:v>22.1</c:v>
                </c:pt>
                <c:pt idx="2">
                  <c:v>19</c:v>
                </c:pt>
              </c:numCache>
            </c:numRef>
          </c:val>
        </c:ser>
        <c:ser>
          <c:idx val="2"/>
          <c:order val="2"/>
          <c:tx>
            <c:v>分页与主机换页</c:v>
          </c:tx>
          <c:spPr>
            <a:solidFill xmlns:a="http://schemas.openxmlformats.org/drawingml/2006/main">
              <a:srgbClr val="168578"/>
            </a:solidFill>
          </c:spPr>
          <c:cat>
            <c:strRef>
              <c:f>'Chart Data'!$E$2:$E$4</c:f>
              <c:strCache>
                <c:ptCount val="3"/>
                <c:pt idx="0">
                  <c:v>8 页</c:v>
                </c:pt>
                <c:pt idx="1">
                  <c:v>16 页</c:v>
                </c:pt>
                <c:pt idx="2">
                  <c:v>32 页</c:v>
                </c:pt>
              </c:strCache>
            </c:strRef>
          </c:cat>
          <c:val>
            <c:numRef>
              <c:f>'Chart Data'!$F$2:$F$4</c:f>
              <c:numCache>
                <c:formatCode>0.0"%"</c:formatCode>
                <c:ptCount val="3"/>
                <c:pt idx="0">
                  <c:v>19.3</c:v>
                </c:pt>
                <c:pt idx="1">
                  <c:v>18.4</c:v>
                </c:pt>
                <c:pt idx="2">
                  <c:v>18.3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分支写入前</c:v>
          </c:tx>
          <c:spPr>
            <a:solidFill xmlns:a="http://schemas.openxmlformats.org/drawingml/2006/main">
              <a:srgbClr val="8290A0"/>
            </a:solidFill>
          </c:spPr>
          <c:cat>
            <c:strRef>
              <c:f>'Chart Data'!$A$2:$A$3</c:f>
              <c:strCache>
                <c:ptCount val="2"/>
                <c:pt idx="0">
                  <c:v>独立复制</c:v>
                </c:pt>
                <c:pt idx="1">
                  <c:v>共享与 COW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108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v>分支写入后</c:v>
          </c:tx>
          <c:spPr>
            <a:solidFill xmlns:a="http://schemas.openxmlformats.org/drawingml/2006/main">
              <a:srgbClr val="286CA8"/>
            </a:solidFill>
          </c:spPr>
          <c:cat>
            <c:strRef>
              <c:f>'Chart Data'!$C$2:$C$3</c:f>
              <c:strCache>
                <c:ptCount val="2"/>
                <c:pt idx="0">
                  <c:v>独立复制</c:v>
                </c:pt>
                <c:pt idx="1">
                  <c:v>共享与 COW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108</c:v>
                </c:pt>
                <c:pt idx="1">
                  <c:v>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B9989-A738-47A1-B02F-85C2B6DC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KV Cache 分页内存管理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EBE8B-4701-45AF-AE38-55DA3782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E4943-601B-4842-9C4B-FB74137E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系统设计与量化评测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0D0A4-03B9-4296-90C5-7A3CA53A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按需分配、写时复制与 LRU 换页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749A0-3056-4812-9AE3-4F86360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CPU 实验已完成，CUDA / Qwen3 实测待补充</a:t>
            </a:r>
          </a:p>
        </p:txBody>
      </p:sp>
    </p:spTree>
    <p:extLst>
      <p:ext uri="{BB962C8B-B14F-4D97-AF65-F5344CB8AC3E}">
        <p14:creationId xmlns:p14="http://schemas.microsoft.com/office/powerpoint/2010/main" val="888548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26226-E159-4CEC-998F-2F8A5626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操作系统概念如何落到 KV 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77BA4-6A19-4A82-B83F-CA1DE9B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29500"/>
              </a:tblGrid>
              <a:tr h="658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OS 概念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项目中的实现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虚拟地址与页表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 下标经序列页表映射到物理块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按需分配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生成推进时扩页，尾页不足一整页也可使用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fork 与 COW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共享前缀，修改共享页时复制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页面置换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LRU 选择未固定页，换出到有界主机池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页固定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前向期间保持完整 KV 工作集驻留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BEE95-365C-4C9A-8565-CE7625B3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空闲块采用队列管理，当前未实现多级页表或伙伴合并。</a:t>
            </a:r>
          </a:p>
        </p:txBody>
      </p:sp>
    </p:spTree>
    <p:extLst>
      <p:ext uri="{BB962C8B-B14F-4D97-AF65-F5344CB8AC3E}">
        <p14:creationId xmlns:p14="http://schemas.microsoft.com/office/powerpoint/2010/main" val="762948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44E68-EC54-4056-B86D-6D002E3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模块结构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3D1C1-E73F-4DF5-86C7-FAF0CAF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BE434-E858-4D14-8DD8-A794C418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3" y="1744980"/>
            <a:ext cx="2551748" cy="787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CPU 仿真</a:t>
            </a:r>
          </a:p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simulate.py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E1FE7-F5E8-49E9-ACF5-9AA4422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3" y="3356610"/>
            <a:ext cx="2551748" cy="787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请求运行器</a:t>
            </a:r>
          </a:p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MemoryRuntime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4CC34-1CCC-4C41-8864-A4875B9E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2506028"/>
            <a:ext cx="2909888" cy="9401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PagedMemory</a:t>
            </a:r>
          </a:p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页表  引用计数  LRU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B4431-946B-4DD8-9D01-B773AD4F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44980"/>
            <a:ext cx="2551748" cy="787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ListStorage</a:t>
            </a:r>
          </a:p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Python 页内容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21B54-6E6A-4413-908F-83620F2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6610"/>
            <a:ext cx="2551748" cy="787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TorchStorage</a:t>
            </a:r>
          </a:p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KV 张量与主机页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82F49-6FDB-4AD2-B2E5-1F46BFFB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654868"/>
            <a:ext cx="2909888" cy="787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Qwen3 执行器</a:t>
            </a:r>
          </a:p>
          <a:p xmlns:a="http://schemas.openxmlformats.org/drawingml/2006/main">
            <a:pPr algn="ctr">
              <a:def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04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ModelExecutor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88031" y="2138934"/>
            <a:ext cx="1298257" cy="83715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97387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88031" y="2976087"/>
            <a:ext cx="1298257" cy="77447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97387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496176" y="2138934"/>
            <a:ext cx="1343024" cy="83715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97387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96176" y="2976087"/>
            <a:ext cx="1343024" cy="77447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97387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4" idx="2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12157" y="4144518"/>
            <a:ext cx="2574131" cy="904304"/>
          </a:xfrm>
          <a:prstGeom xmlns:a="http://schemas.openxmlformats.org/drawingml/2006/main" prst="bentConnector5">
            <a:avLst>
              <a:gd name="adj1" fmla="val 0"/>
              <a:gd name="adj2" fmla="val 25279"/>
              <a:gd name="adj3" fmla="val 91119"/>
            </a:avLst>
          </a:prstGeom>
          <a:ln xmlns:a="http://schemas.openxmlformats.org/drawingml/2006/main" w="19050">
            <a:solidFill>
              <a:srgbClr val="597387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496176" y="4144518"/>
            <a:ext cx="2618898" cy="904304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97387"/>
            </a:solidFill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98649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FAE5B-A66B-443B-B587-00D3F73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逻辑地址与按需扩页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45180-EE68-4803-9CC5-42C175E1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35557-4131-4980-B861-2C2B7408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每页 4 token，逻辑位置 9 分解为页号 2 和偏移 1。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934CE-2F77-4257-98B5-E78574E1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序列页表保存稳定页 ID，页面对象记录 frame 或 host。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9DFF2-FF27-458D-A128-B713F3D8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长度从 8 增至 9 时分配第 3 页，无需连续物理空间。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59939-1AC2-4D69-AF11-BC965D62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引用归零才释放页面，检查空闲池与活跃页是否完整分割。</a:t>
            </a:r>
          </a:p>
        </p:txBody>
      </p:sp>
    </p:spTree>
    <p:extLst>
      <p:ext uri="{BB962C8B-B14F-4D97-AF65-F5344CB8AC3E}">
        <p14:creationId xmlns:p14="http://schemas.microsoft.com/office/powerpoint/2010/main" val="1223292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534151-4322-476A-89C0-63203764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写时复制的执行顺序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824A8-201E-4B25-8B58-E03AD30B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736A8-F7D8-4880-A193-6700717F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请求分支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A8AC7-B49A-4D9C-B41F-EEFAC30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59B73-3632-4BF7-B069-9822E992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864995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EBC53-40F5-4B81-935D-D3BB2511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PagedMemory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33896-F75E-424C-856A-0CBC97F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BCF68-CCFE-4326-B1A0-0F595CF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6073140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1161C-C68B-4981-BD61-663EA20C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633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存储后端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A9AF2-2FF3-4ED3-8026-41A64B27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285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BCBAD-124B-4EB1-82DE-D813BFD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285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H="1">
            <a:off x="10281285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52B50-DDAC-4894-8312-6CC0DC6A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255365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ACB14-0CCF-43B7-B658-6296C63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255365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874520" y="2558416"/>
            <a:ext cx="41986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DCE24-9213-42A6-9E6C-945DC51B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530" y="2186559"/>
            <a:ext cx="4029075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fork 复制映射并增加引用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FC069-BEB8-49C5-9798-6562595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3269932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05813-E4EE-4F63-878A-6807603C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3269932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874520" y="3274695"/>
            <a:ext cx="41986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45E43-2B24-43EE-9E17-C7FA0234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530" y="2902839"/>
            <a:ext cx="4029075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追加 token 到共享尾页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B6D23-122F-4F13-AEC2-CC37BA9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3986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32FC7-36A5-47AE-AB4F-31CA420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285" y="3986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082665" y="3990976"/>
            <a:ext cx="41986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B44E3-6F64-4AF1-AA84-62B65764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19119"/>
            <a:ext cx="4029075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分配新页并复制内容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3BCD5-DB4F-4054-9161-E9FCDB0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285" y="47024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B9F48-E23B-4158-978D-D234B44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47024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6073140" y="4707256"/>
            <a:ext cx="42176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C55D5-5518-4EDE-8492-C8DD60B3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35399"/>
            <a:ext cx="4029075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复制完成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995998-2F89-4B82-8FAF-3C2DBE8F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54187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92DA9-E8EE-4205-9832-B1357626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54187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1864995" y="5423536"/>
            <a:ext cx="42176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7D383-3FFD-46DF-B69F-77E8D6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530" y="5051679"/>
            <a:ext cx="4029075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映射更新与分支写入完成</a:t>
            </a:r>
          </a:p>
        </p:txBody>
      </p:sp>
    </p:spTree>
    <p:extLst>
      <p:ext uri="{BB962C8B-B14F-4D97-AF65-F5344CB8AC3E}">
        <p14:creationId xmlns:p14="http://schemas.microsoft.com/office/powerpoint/2010/main" val="1419184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77566D-A931-4E2D-AC6B-625AA21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换页与计算的执行顺序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E64E0-A872-42E0-A0A6-BDF615CC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5D3C0-3BA8-4F5D-A691-904D9B8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3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MemoryRuntime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51AAF-C221-41F3-A489-8E85E4B3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5FF8E-8206-49FD-A1C6-8ED4140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06855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CA018-C5A3-4276-8C59-E138DFC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393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PagedMemory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A1EBD-C40B-4A93-8D6C-A0D43A5E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00E10-A4D6-4DD2-91C9-3DFAAC7E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4551045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52682-68B4-4498-A9B6-2F5CCEC1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583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存储后端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227E8-62CB-4B6E-8AEC-B207A10A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35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BFABE-D46E-43E1-935A-2C1A3A1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35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H="1">
            <a:off x="7595235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31AA6-CA36-42CC-A7E1-1EF2BFD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1658303"/>
            <a:ext cx="2059305" cy="519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4288">
            <a:solidFill>
              <a:srgbClr val="9AAF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33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Qwen3 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B28D7-0B14-42DE-936E-B8C8277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204466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B8371-2B23-453F-84F8-D3DFA603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776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10639425" y="2209229"/>
            <a:ext cx="9525" cy="35724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A9854-97FA-47BB-94AE-D9709795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255365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D45D-E843-4A70-9037-318211F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255365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516380" y="2558416"/>
            <a:ext cx="303466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6BC27-98F5-4552-95EA-4A7E5D82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" y="2186559"/>
            <a:ext cx="2865120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申请并固定完整工作集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A6906-50CA-4ABB-AA1F-9D8BD472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3269932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23962-BFBB-4557-B24A-689C6D4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35" y="3269932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60570" y="3274695"/>
            <a:ext cx="303466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3E43E-C8F8-40E3-9100-18981D6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902839"/>
            <a:ext cx="2865120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LRU 换出并换入缺页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BEF85-C3A6-4309-A1A4-DA049BF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35" y="3986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BE328-A2F9-4283-9E8F-C014094C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3986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4551045" y="3990976"/>
            <a:ext cx="305371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3D8C1A-8D61-44F4-93BD-1E618D6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619119"/>
            <a:ext cx="2865120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数据搬运完成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390816-786F-4084-84B3-40CFD56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47024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C40D-A69A-4010-ABEA-0704E31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70249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516380" y="4707256"/>
            <a:ext cx="91230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94666-5DC6-45F9-8A6F-EB8CB92E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" y="4335399"/>
            <a:ext cx="8953500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传入物理块表并执行前向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9D73A-28ED-474D-B53F-9A4CF2D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4187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97DBB0-4F04-437A-9B0F-1CD9EBA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541877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1506855" y="5423536"/>
            <a:ext cx="91420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7387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21B87-EA66-4858-A44A-830D339A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" y="5051679"/>
            <a:ext cx="8953500" cy="340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692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前向完成后解除固定</a:t>
            </a:r>
          </a:p>
        </p:txBody>
      </p:sp>
    </p:spTree>
    <p:extLst>
      <p:ext uri="{BB962C8B-B14F-4D97-AF65-F5344CB8AC3E}">
        <p14:creationId xmlns:p14="http://schemas.microsoft.com/office/powerpoint/2010/main" val="1340036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99C1D-23DE-4D77-8B6F-915CEE0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实验设置与基线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BF25D-D49E-4F1C-BE46-7E848F9F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14375" y="1714500"/>
          <a:ext xmlns:a="http://schemas.openxmlformats.org/drawingml/2006/main" cx="107632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143500"/>
                <a:gridCol w="2571750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空间分配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主机页池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连续预分配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按声明最大长度预留连续区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按需分页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逐步申请固定大小的页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分页与换页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相同物理池，加 LRU 置换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混合负载 32 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B08EE-1A5A-4114-BCEB-FE917C93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混合负载：32 条请求，长度 3～20 token，3 个随机种子。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475B3-630F-4E58-8B98-F998FDB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比较同时涉及预留策略和内存布局，结果属于 CPU 仿真。</a:t>
            </a:r>
          </a:p>
        </p:txBody>
      </p:sp>
    </p:spTree>
    <p:extLst>
      <p:ext uri="{BB962C8B-B14F-4D97-AF65-F5344CB8AC3E}">
        <p14:creationId xmlns:p14="http://schemas.microsoft.com/office/powerpoint/2010/main" val="88423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1091B-5DFB-48A9-8B56-662CEBD1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固定物理容量下的完成请求数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60101-234C-4CF6-B15F-A97E056B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3197df98ab468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2B0D5-07BD-4771-B6D9-DFEEB57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每组提交 32 条请求，每页 4 token，图中为三个种子的均值。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3A921-8E3A-4395-B937-7E6B600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换页增加完成数，也带来约 477～567 页次的平均换入。</a:t>
            </a:r>
          </a:p>
        </p:txBody>
      </p:sp>
    </p:spTree>
    <p:extLst>
      <p:ext uri="{BB962C8B-B14F-4D97-AF65-F5344CB8AC3E}">
        <p14:creationId xmlns:p14="http://schemas.microsoft.com/office/powerpoint/2010/main" val="166745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DAC65-1DDF-495C-A6C6-D275232B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已分配空间中的内部碎片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C9FF5-F869-4CC7-A14B-008C337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9108fde7d442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F79AD-CA09-4702-85B3-227FF94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单位：%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69EE0-EA51-419C-8378-7DD49A5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32 页时，连续预分配 79.8%，按需分页 19.0%。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5F813-8952-45FE-A2A7-577089F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不同策略留下的请求集合不同，这也会影响碎片率。</a:t>
            </a:r>
          </a:p>
        </p:txBody>
      </p:sp>
    </p:spTree>
    <p:extLst>
      <p:ext uri="{BB962C8B-B14F-4D97-AF65-F5344CB8AC3E}">
        <p14:creationId xmlns:p14="http://schemas.microsoft.com/office/powerpoint/2010/main" val="1814948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90B8B-9920-4C09-8A24-E3E28DC2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共享分支的空间占用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289D4-DEB2-4C46-A903-4A584BB6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9335453b12415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DE007-48FB-49AB-98E5-22E116C6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9-token 前缀，8 个分支，每页 4 token。纵向数值单位为槽位。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CB9A8-AE1E-44AC-8D9A-9381B8A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追加后由 108 个槽位降至 44 个，减少 59.3%。</a:t>
            </a:r>
          </a:p>
        </p:txBody>
      </p:sp>
    </p:spTree>
    <p:extLst>
      <p:ext uri="{BB962C8B-B14F-4D97-AF65-F5344CB8AC3E}">
        <p14:creationId xmlns:p14="http://schemas.microsoft.com/office/powerpoint/2010/main" val="20918359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6DCEA-3910-4A13-9BEF-ACB6A78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容量边界与分配策略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47A29-7517-44F7-A2FC-D5E5B365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14375" y="1619250"/>
          <a:ext xmlns:a="http://schemas.openxmlformats.org/drawingml/2006/main" cx="10763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762250"/>
                <a:gridCol w="2762250"/>
                <a:gridCol w="27622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实际长度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连续预分配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按需分页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分页与换页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 token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 token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B829C-1310-4144-B0ED-63C1F40F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16 条同时到达，物理容量 32 token，表中为完成请求数。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6CFC7-C7B0-4BF4-BBDD-FA9A4D2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单次 Attention 必须容纳完整 KV，64-token 请求无法完成。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BAFE0-FD91-4B8B-AF1C-DDE1D03C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失败立即结束请求，结果也受准入策略影响。</a:t>
            </a:r>
          </a:p>
        </p:txBody>
      </p:sp>
    </p:spTree>
    <p:extLst>
      <p:ext uri="{BB962C8B-B14F-4D97-AF65-F5344CB8AC3E}">
        <p14:creationId xmlns:p14="http://schemas.microsoft.com/office/powerpoint/2010/main" val="4609300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A6D6C-F593-45AE-81FA-1513D0BD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测试与 GPU 验证进度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7D3A8-DCF5-49E9-885C-C447857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763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572000"/>
                <a:gridCol w="247650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环境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测试结果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行覆盖率</a:t>
                      </a:r>
                    </a:p>
                  </a:txBody>
                  <a:tcPr marL="91440" marR="91440" marT="45720" marB="45720">
                    <a:solidFill>
                      <a:srgbClr val="E7EE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纯 CPU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 通过，3 跳过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81.98%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与 PyTorch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 通过，0 跳过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93.64%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CUDA 与 Qwen3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 RTX 4060 Laptop 实测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363CB-2095-49E3-B75B-10FE9072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覆盖率统计整个 src/memory，包括未执行的 GPU 适配代码。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65C35-F6F2-405F-96FF-E1915079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GPU 验证保留输出 token、峰值显存、换页字节数和耗时。</a:t>
            </a:r>
          </a:p>
        </p:txBody>
      </p:sp>
    </p:spTree>
    <p:extLst>
      <p:ext uri="{BB962C8B-B14F-4D97-AF65-F5344CB8AC3E}">
        <p14:creationId xmlns:p14="http://schemas.microsoft.com/office/powerpoint/2010/main" val="1490487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5B060-09E3-48A6-A118-4111E55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结论与演示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33BAA-4119-459F-B6DD-E8822F6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290A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6EE31-3227-49C0-9776-058383C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按需分页降低预留浪费，COW 减少公共前缀的重复保存。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4CE14-50D4-4BB7-85DE-3DD9DE6E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换页让更多请求完成，吞吐收益还需结合搬运开销实测。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5C7D6-B90B-4FDC-9E5B-1E6F8CF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演示：python3 scripts/demo_memory.py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BC3B9-9FE2-4262-ACA2-A9B02420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C3D"/>
                </a:solidFill>
                <a:latin typeface="PingFang SC"/>
                <a:ea typeface="PingFang SC"/>
                <a:cs typeface="PingFang SC"/>
              </a:rPr>
              <a:t>待补：GPU 实测、实际对话负载和五分钟录屏。</a:t>
            </a:r>
          </a:p>
        </p:txBody>
      </p:sp>
    </p:spTree>
    <p:extLst>
      <p:ext uri="{BB962C8B-B14F-4D97-AF65-F5344CB8AC3E}">
        <p14:creationId xmlns:p14="http://schemas.microsoft.com/office/powerpoint/2010/main" val="788924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2026-09-16T05:15:36.7880000Z</dcterms:created>
  <dcterms:modified xsi:type="dcterms:W3CDTF">2026-09-16T05:15:36.7880000Z</dcterms:modified>
</coreProperties>
</file>